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8F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120640"/>
            <a:ext cx="2377440" cy="23774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270248" y="82296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270248" y="822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なつやすみ とくべつきかく</a:t>
            </a:r>
            <a:endParaRPr lang="en-US" sz="1500" dirty="0"/>
          </a:p>
        </p:txBody>
      </p:sp>
      <p:pic>
        <p:nvPicPr>
          <p:cNvPr id="7" name="Image 0" descr="/sessions/elegant-hopeful-albattani/mnt/outputs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69164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親子で ゲームプログラマ たいけん！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434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6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AIといっしょに オリジナルの ゲームを つくろう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9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まとあてシューティング編　生徒用テキスト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日時：2026年8月1日（土）10:00〜12:00　　主催：SEプラス × 株式会社レベルエンター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C8F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むらかみ　ふみたか　先生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291840" cy="4663440"/>
          </a:xfrm>
          <a:prstGeom prst="roundRect">
            <a:avLst>
              <a:gd name="adj" fmla="val 5556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965960"/>
            <a:ext cx="2103120" cy="2103120"/>
          </a:xfrm>
          <a:prstGeom prst="ellipse">
            <a:avLst/>
          </a:prstGeom>
          <a:solidFill>
            <a:srgbClr val="1C8FC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938528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村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株式会社レベルエンター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村上 史尚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むらかみ ふみたか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6812280" cy="2103120"/>
          </a:xfrm>
          <a:prstGeom prst="roundRect">
            <a:avLst>
              <a:gd name="adj" fmla="val 6087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F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お仕事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プログラマ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プログラミング講師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6812280" cy="2103120"/>
          </a:xfrm>
          <a:prstGeom prst="roundRect">
            <a:avLst>
              <a:gd name="adj" fmla="val 6087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F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趣味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438912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サッカー観戦（横浜Fマリノス・海外サッカー）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5989320"/>
            <a:ext cx="6812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今日はみんなの「お客さん役」としてゲームの注文をします！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E9A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サブ講師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えんや　しょうへい　先生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291840" cy="4663440"/>
          </a:xfrm>
          <a:prstGeom prst="roundRect">
            <a:avLst>
              <a:gd name="adj" fmla="val 5556"/>
            </a:avLst>
          </a:prstGeom>
          <a:solidFill>
            <a:srgbClr val="E3F5E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965960"/>
            <a:ext cx="2103120" cy="2103120"/>
          </a:xfrm>
          <a:prstGeom prst="ellipse">
            <a:avLst/>
          </a:prstGeom>
          <a:solidFill>
            <a:srgbClr val="2E9A63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938528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塩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株式会社レベルエンター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塩冶 昇平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えんや しょうへい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6812280" cy="2103120"/>
          </a:xfrm>
          <a:prstGeom prst="roundRect">
            <a:avLst>
              <a:gd name="adj" fmla="val 6087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A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お仕事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プログラマ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プログラミング講師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6812280" cy="2103120"/>
          </a:xfrm>
          <a:prstGeom prst="roundRect">
            <a:avLst>
              <a:gd name="adj" fmla="val 6087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A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趣味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438912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5989320"/>
            <a:ext cx="6812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今日はみんなの「プログラマ役」としてAIと一緒にゲームを作ります！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5216"/>
            <a:ext cx="11292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とつぜんですが、みなさんはこんな経験がありますか？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大好きなこと、やりたいことをやっているときに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時間があっという間に すぎてしまう……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8048" y="3017520"/>
            <a:ext cx="3200400" cy="2743200"/>
          </a:xfrm>
          <a:prstGeom prst="roundRect">
            <a:avLst>
              <a:gd name="adj" fmla="val 4667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5" name="Image 0" descr="/sessions/elegant-hopeful-albattani/mnt/outputs/icons/gamepa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028" y="3314700"/>
            <a:ext cx="1234440" cy="1234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928" y="4846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ゲームをするとき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95648" y="3017520"/>
            <a:ext cx="3200400" cy="2743200"/>
          </a:xfrm>
          <a:prstGeom prst="roundRect">
            <a:avLst>
              <a:gd name="adj" fmla="val 4667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8" name="Image 1" descr="/sessions/elegant-hopeful-albattani/mnt/outputs/icons/running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628" y="3314700"/>
            <a:ext cx="1234440" cy="1234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78528" y="4846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おにごっこ をするとき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153248" y="3017520"/>
            <a:ext cx="3200400" cy="2743200"/>
          </a:xfrm>
          <a:prstGeom prst="roundRect">
            <a:avLst>
              <a:gd name="adj" fmla="val 4667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1" name="Image 2" descr="/sessions/elegant-hopeful-albattani/mnt/outputs/icons/tv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228" y="3314700"/>
            <a:ext cx="1234440" cy="1234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6128" y="4846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好きなテレビを みているとき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66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「熱中（ねっちゅう）」して プログラミングしよう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0515600" cy="1828800"/>
          </a:xfrm>
          <a:prstGeom prst="roundRect">
            <a:avLst>
              <a:gd name="adj" fmla="val 7000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87452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私たちはこの状態を「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066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熱中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」と呼んでいます。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熱中しているときは、いつもより何倍も時間が進むのが早く感じます。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0515600" cy="2331720"/>
          </a:xfrm>
          <a:prstGeom prst="roundRect">
            <a:avLst>
              <a:gd name="adj" fmla="val 5490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4069080"/>
            <a:ext cx="9784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今日はAIの「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C8F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Claude（クロード）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」と いっしょに、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みんなで熱中できる「ゲームづくり」に 挑戦（ちょうせん）します！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C8F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AIって何？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Claude（クロード）ってどんなもの？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1920240"/>
          </a:xfrm>
          <a:prstGeom prst="roundRect">
            <a:avLst>
              <a:gd name="adj" fmla="val 6667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78308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Claudeは「ことば」でお願いすると、代わりにプログラム（コード）を書いてくれる、AIの相棒（あいぼう）です。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0908" y="3840480"/>
            <a:ext cx="3246120" cy="2011680"/>
          </a:xfrm>
          <a:prstGeom prst="roundRect">
            <a:avLst>
              <a:gd name="adj" fmla="val 6364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63928" y="406908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8FC0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63928" y="4041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8FC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3788" y="4892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「こんなゲームが作りたい」と伝える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07028" y="43891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7392"/>
                </a:solidFill>
              </a:rPr>
              <a:t>➡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72788" y="3840480"/>
            <a:ext cx="3246120" cy="2011680"/>
          </a:xfrm>
          <a:prstGeom prst="roundRect">
            <a:avLst>
              <a:gd name="adj" fmla="val 6364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75808" y="406908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8FC0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75808" y="4041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8FC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5668" y="4892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Claudeが プログラムを 考えて 書いてくれる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18908" y="43891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7392"/>
                </a:solidFill>
              </a:rPr>
              <a:t>➡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84668" y="3840480"/>
            <a:ext cx="3246120" cy="2011680"/>
          </a:xfrm>
          <a:prstGeom prst="roundRect">
            <a:avLst>
              <a:gd name="adj" fmla="val 6364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7688" y="406908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8FC0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87688" y="4041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8FC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7548" y="4892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実際に動かして たしかめる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E9A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今日の体験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今日は「なりきりゲームプログラマ」たいけん！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本物のゲームプログラマも、お客さんの要望（ようぼう）を聞いて → 設計（せっけい）して → AIやチームと一緒に作る、という流れで仕事をしています。今日はその流れを、まず先生たちが実演（じつえん）して見せます。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120640" cy="3429000"/>
          </a:xfrm>
          <a:prstGeom prst="roundRect">
            <a:avLst>
              <a:gd name="adj" fmla="val 3733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7" name="Image 0" descr="/sessions/elegant-hopeful-albattani/mnt/outputs/icons/wavinghan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940" y="299466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77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66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お客さん役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45262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「こんなゲームにしたい！」を伝える人。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村上先生が担当します。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63640" y="2788920"/>
            <a:ext cx="5120640" cy="3429000"/>
          </a:xfrm>
          <a:prstGeom prst="roundRect">
            <a:avLst>
              <a:gd name="adj" fmla="val 3733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1" name="Image 1" descr="/sessions/elegant-hopeful-albattani/mnt/outputs/icons/laptopcode_s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620" y="2994660"/>
            <a:ext cx="868680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3977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8FC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プログラマ役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45262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要望を聞いてAIに伝え、ゲームを形にする人。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塩冶先生が担当します。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実演のあとは、みんな自身のパソコンで同じ体験にチャレンジします！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636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今日つくるゲーム：まとあてシューティング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212080" cy="4846320"/>
          </a:xfrm>
          <a:prstGeom prst="roundRect">
            <a:avLst>
              <a:gd name="adj" fmla="val 2642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6" name="Image 0" descr="/sessions/elegant-hopeful-albattani/mnt/outputs/icons/target_b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940" y="1760220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788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画面まんなかの「照準（リング）」に敵が入ったら、クリックで倒す シューティングゲーム！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188720" y="4023360"/>
            <a:ext cx="502920" cy="5029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6618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872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66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4023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通常の敵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188720" y="4681728"/>
            <a:ext cx="502920" cy="5029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526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8872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5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74520" y="4681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中ボス（分裂する！）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1188720" y="5340096"/>
            <a:ext cx="502920" cy="5029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6363D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5312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74520" y="53400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ラスボス（ドラゴン）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263640" y="1463040"/>
            <a:ext cx="5120640" cy="4846320"/>
          </a:xfrm>
          <a:prstGeom prst="roundRect">
            <a:avLst>
              <a:gd name="adj" fmla="val 3019"/>
            </a:avLst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8" name="Image 1" descr="/sessions/elegant-hopeful-albattani/mnt/outputs/last_bo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645920"/>
            <a:ext cx="4754880" cy="23774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63640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ラスボスステージの世界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92240" y="47091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HPバーを削り切ったら、ゲームクリア！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365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アジェンダ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8884" y="1828800"/>
            <a:ext cx="1965960" cy="41148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8884" y="1828800"/>
            <a:ext cx="1965960" cy="777240"/>
          </a:xfrm>
          <a:prstGeom prst="roundRect">
            <a:avLst>
              <a:gd name="adj" fmla="val 16471"/>
            </a:avLst>
          </a:prstGeom>
          <a:solidFill>
            <a:srgbClr val="2E9A63"/>
          </a:solidFill>
          <a:ln/>
        </p:spPr>
      </p:sp>
      <p:sp>
        <p:nvSpPr>
          <p:cNvPr id="7" name="Text 5"/>
          <p:cNvSpPr/>
          <p:nvPr/>
        </p:nvSpPr>
        <p:spPr>
          <a:xfrm>
            <a:off x="668884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</a:t>
            </a:r>
            <a:endParaRPr lang="en-US" sz="2600" dirty="0"/>
          </a:p>
        </p:txBody>
      </p:sp>
      <p:pic>
        <p:nvPicPr>
          <p:cNvPr id="8" name="Image 0" descr="/sessions/elegant-hopeful-albattani/mnt/outputs/icons/ear_g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244" y="285750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2036" y="3840480"/>
            <a:ext cx="18196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634844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90876" y="1828800"/>
            <a:ext cx="1965960" cy="41148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90876" y="1828800"/>
            <a:ext cx="1965960" cy="777240"/>
          </a:xfrm>
          <a:prstGeom prst="roundRect">
            <a:avLst>
              <a:gd name="adj" fmla="val 16471"/>
            </a:avLst>
          </a:prstGeom>
          <a:solidFill>
            <a:srgbClr val="E06618"/>
          </a:solidFill>
          <a:ln/>
        </p:spPr>
      </p:sp>
      <p:sp>
        <p:nvSpPr>
          <p:cNvPr id="13" name="Text 10"/>
          <p:cNvSpPr/>
          <p:nvPr/>
        </p:nvSpPr>
        <p:spPr>
          <a:xfrm>
            <a:off x="2890876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</a:t>
            </a:r>
            <a:endParaRPr lang="en-US" sz="2600" dirty="0"/>
          </a:p>
        </p:txBody>
      </p:sp>
      <p:pic>
        <p:nvPicPr>
          <p:cNvPr id="14" name="Image 1" descr="/sessions/elegant-hopeful-albattani/mnt/outputs/icons/joysti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236" y="2857500"/>
            <a:ext cx="777240" cy="777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64028" y="3840480"/>
            <a:ext cx="18196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シューティングを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作ってみよう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856836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112868" y="1828800"/>
            <a:ext cx="1965960" cy="41148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12868" y="1828800"/>
            <a:ext cx="1965960" cy="777240"/>
          </a:xfrm>
          <a:prstGeom prst="roundRect">
            <a:avLst>
              <a:gd name="adj" fmla="val 16471"/>
            </a:avLst>
          </a:prstGeom>
          <a:solidFill>
            <a:srgbClr val="E06618"/>
          </a:solidFill>
          <a:ln/>
        </p:spPr>
      </p:sp>
      <p:sp>
        <p:nvSpPr>
          <p:cNvPr id="19" name="Text 15"/>
          <p:cNvSpPr/>
          <p:nvPr/>
        </p:nvSpPr>
        <p:spPr>
          <a:xfrm>
            <a:off x="5112868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</a:t>
            </a:r>
            <a:endParaRPr lang="en-US" sz="2600" dirty="0"/>
          </a:p>
        </p:txBody>
      </p:sp>
      <p:pic>
        <p:nvPicPr>
          <p:cNvPr id="20" name="Image 2" descr="/sessions/elegant-hopeful-albattani/mnt/outputs/icons/star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228" y="2857500"/>
            <a:ext cx="777240" cy="7772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6020" y="3840480"/>
            <a:ext cx="18196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スコアと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078828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334860" y="1828800"/>
            <a:ext cx="1965960" cy="41148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34860" y="1828800"/>
            <a:ext cx="1965960" cy="777240"/>
          </a:xfrm>
          <a:prstGeom prst="roundRect">
            <a:avLst>
              <a:gd name="adj" fmla="val 16471"/>
            </a:avLst>
          </a:prstGeom>
          <a:solidFill>
            <a:srgbClr val="D6363D"/>
          </a:solidFill>
          <a:ln/>
        </p:spPr>
      </p:sp>
      <p:sp>
        <p:nvSpPr>
          <p:cNvPr id="25" name="Text 20"/>
          <p:cNvSpPr/>
          <p:nvPr/>
        </p:nvSpPr>
        <p:spPr>
          <a:xfrm>
            <a:off x="7334860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</a:t>
            </a:r>
            <a:endParaRPr lang="en-US" sz="2600" dirty="0"/>
          </a:p>
        </p:txBody>
      </p:sp>
      <p:pic>
        <p:nvPicPr>
          <p:cNvPr id="26" name="Image 3" descr="/sessions/elegant-hopeful-albattani/mnt/outputs/icons/dragon_bo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220" y="2857500"/>
            <a:ext cx="777240" cy="7772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08012" y="3840480"/>
            <a:ext cx="18196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ボスを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たおそう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300820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9556852" y="1828800"/>
            <a:ext cx="1965960" cy="41148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556852" y="1828800"/>
            <a:ext cx="1965960" cy="777240"/>
          </a:xfrm>
          <a:prstGeom prst="roundRect">
            <a:avLst>
              <a:gd name="adj" fmla="val 16471"/>
            </a:avLst>
          </a:prstGeom>
          <a:solidFill>
            <a:srgbClr val="2E9A63"/>
          </a:solidFill>
          <a:ln/>
        </p:spPr>
      </p:sp>
      <p:sp>
        <p:nvSpPr>
          <p:cNvPr id="31" name="Text 25"/>
          <p:cNvSpPr/>
          <p:nvPr/>
        </p:nvSpPr>
        <p:spPr>
          <a:xfrm>
            <a:off x="9556852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</a:t>
            </a:r>
            <a:endParaRPr lang="en-US" sz="2600" dirty="0"/>
          </a:p>
        </p:txBody>
      </p:sp>
      <p:pic>
        <p:nvPicPr>
          <p:cNvPr id="32" name="Image 4" descr="/sessions/elegant-hopeful-albattani/mnt/outputs/icons/palette_gr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1212" y="2857500"/>
            <a:ext cx="777240" cy="7772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0004" y="3840480"/>
            <a:ext cx="18196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自由に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改造しよう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だけ「まだAIには何もお願いしない回」。②〜⑤で少しずつゲームを完成させていきます。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C8F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準備確認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自分のパソコンを 見てみよう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先生が事前に準備しておいたので、みんなは何もしなくて大丈夫です。まずは画面に映っているものを確認してみましょう。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7" name="Image 0" descr="/sessions/elegant-hopeful-albattani/mnt/outputs/icons/computer_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0604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5146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VSCode（ブイエスコード）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94436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プログラムのコードを書く・見るためのソフトが開いてあります。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74904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1" name="Image 1" descr="/sessions/elegant-hopeful-albattani/mnt/outputs/icons/file_s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977640"/>
            <a:ext cx="777240" cy="777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3886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index.html（スタート地点のファイル）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103120" y="431596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まだ何もない、空っぽの3D空間だけが入ったファイルです。ここから作っていきます。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512064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5" name="Image 2" descr="/sessions/elegant-hopeful-albattani/mnt/outputs/icons/chat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349240"/>
            <a:ext cx="777240" cy="777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5257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Claude（AIとの会話がめん）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103120" y="568756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ここに「お願い」を文章で打ち込むと、AIがプログラムを書いてくれます。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だいじ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AIへの「おねがい」のコツ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1417320"/>
          </a:xfrm>
          <a:prstGeom prst="roundRect">
            <a:avLst>
              <a:gd name="adj" fmla="val 9032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87452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526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470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5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176479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一度に ぜんぶ おねがいしない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23317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ひとつずつ、順番に お願いしよう。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10515600" cy="1417320"/>
          </a:xfrm>
          <a:prstGeom prst="roundRect">
            <a:avLst>
              <a:gd name="adj" fmla="val 9032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347472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526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447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5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48840" y="336499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作ってもらったら 必ず自分で さわって確かめる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39319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見るだけじゃなく、実際にクリックして遊んでみよう。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10515600" cy="1417320"/>
          </a:xfrm>
          <a:prstGeom prst="roundRect">
            <a:avLst>
              <a:gd name="adj" fmla="val 9032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507492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526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047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5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48840" y="496519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「思ったのと ちがうな」と思ったら、そのまま伝える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48840" y="55321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例：「もう少し大きくしてほしい」でOK！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9A63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A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ヒアリング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どんなゲームにしたいか 考える回。まだAIには 何もお願いしない。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15600" cy="4480560"/>
          </a:xfrm>
          <a:prstGeom prst="roundRect">
            <a:avLst>
              <a:gd name="adj" fmla="val 2857"/>
            </a:avLst>
          </a:prstGeom>
          <a:solidFill>
            <a:srgbClr val="E3F5E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0116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E9A6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0116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考えてみよう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的（まと）は 動く？ 止まってる？</a:t>
            </a:r>
            <a:endParaRPr lang="en-US" sz="200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難しさは 簡単？ それとも 歯ごたえある方？</a:t>
            </a:r>
            <a:endParaRPr lang="en-US" sz="200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最後にボスが 出てきたら 盛り上がるかな？</a:t>
            </a:r>
            <a:endParaRPr lang="en-US" sz="2000" dirty="0"/>
          </a:p>
          <a:p>
            <a:pPr marL="228600" indent="-228600"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色や 見た目（テーマ）は どうしたい？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6618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6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シューティングを 作ってみよう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基本の遊び方（的を撃って倒す）を作る回。スコアはまだ表示しません。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15600" cy="2103120"/>
          </a:xfrm>
          <a:prstGeom prst="roundRect">
            <a:avLst>
              <a:gd name="adj" fmla="val 6087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9202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0661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AIに言おう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359152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「画面の左右から敵が出てきて、画面まんなかの丸に敵が入ったら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クリックで倒せる、シューティングゲームを作ってください。」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2148840"/>
          </a:xfrm>
          <a:prstGeom prst="roundRect">
            <a:avLst>
              <a:gd name="adj" fmla="val 5957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1" name="Image 0" descr="/sessions/elegant-hopeful-albattani/mnt/outputs/icons/targe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526280"/>
            <a:ext cx="1188720" cy="1188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51760" y="4297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照準（リング）のコツ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51760" y="4800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敵が まんなかのリングに 入ると、リングが 緑色に光ります。光っている ときに クリックすると 命中！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6618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6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スコアと デザインの追加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倒した数が わかるようにして、見た目も かわいくする回。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515600" cy="1920240"/>
          </a:xfrm>
          <a:prstGeom prst="roundRect">
            <a:avLst>
              <a:gd name="adj" fmla="val 6667"/>
            </a:avLst>
          </a:prstGeom>
          <a:solidFill>
            <a:srgbClr val="FDEEE0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745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0661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74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AIに言おう 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「敵を倒したら画面にスコアを表示して、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倒すたびに点数が増えるようにしてください。」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97764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776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AIに言おう 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41655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「的の色を もっと カラフルに してください。」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的をもっと大きくしたい、動きを速くしたい……など、気になったことは何でも伝えてOK！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6363D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ボスを たおそう（中ボス）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中ボス → ラスボスの順番で、1つずつ 確かめながら 進める回。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15600" cy="2377440"/>
          </a:xfrm>
          <a:prstGeom prst="roundRect">
            <a:avLst>
              <a:gd name="adj" fmla="val 5385"/>
            </a:avLst>
          </a:prstGeom>
          <a:solidFill>
            <a:srgbClr val="FBE7E7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92024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636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AIに言おう 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359152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「敵を10体倒したら、分裂する中ボスが出てくるようにしてください。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中ボスを倒すと2体に分裂して、その2体を倒したら次に進むように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してください。」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10515600" cy="1874520"/>
          </a:xfrm>
          <a:prstGeom prst="roundRect">
            <a:avLst>
              <a:gd name="adj" fmla="val 6829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1" name="Image 0" descr="/sessions/elegant-hopeful-albattani/mnt/outputs/icons/bomb_b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473202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51760" y="4526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まず①をお願いして、うごかして確かめてから 次のラスボスに 進もう。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6363D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ボスを たおそう（ラスボス）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6309360" cy="2788920"/>
          </a:xfrm>
          <a:prstGeom prst="roundRect">
            <a:avLst>
              <a:gd name="adj" fmla="val 4590"/>
            </a:avLst>
          </a:prstGeom>
          <a:solidFill>
            <a:srgbClr val="FBE7E7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5544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6363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AIに言おう 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993392"/>
            <a:ext cx="5852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「最後にドラゴンのラスボスを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出してください。HPバーを表示して、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何回かクリックしないと倒せないように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してください。倒したらゲームクリア画面を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出してください。」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371600"/>
            <a:ext cx="4023360" cy="484632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0" name="Image 0" descr="/sessions/elegant-hopeful-albattani/mnt/outputs/last_b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554480"/>
            <a:ext cx="365760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HPバーを削り切ったら…</a:t>
            </a:r>
            <a:endParaRPr lang="en-US" sz="1300" dirty="0"/>
          </a:p>
        </p:txBody>
      </p:sp>
      <p:pic>
        <p:nvPicPr>
          <p:cNvPr id="12" name="Image 1" descr="/sessions/elegant-hopeful-albattani/mnt/outputs/icons/celebratio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8953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0" y="3858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ゲームクリア！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822960" y="4343400"/>
            <a:ext cx="6309360" cy="1874520"/>
          </a:xfrm>
          <a:prstGeom prst="roundRect">
            <a:avLst>
              <a:gd name="adj" fmla="val 6829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097280" y="452628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これで、①ヒアリングで決めた「最後にドラゴンのボスを出したい！」という要望が、ぜんぶ叶いました。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9A63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A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自由に 改造しよう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ゲームは もう完成！ ここからは 自分が お客さんになって、自由にお願いするタイム。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15600" cy="1371600"/>
          </a:xfrm>
          <a:prstGeom prst="roundRect">
            <a:avLst>
              <a:gd name="adj" fmla="val 9333"/>
            </a:avLst>
          </a:prstGeom>
          <a:solidFill>
            <a:srgbClr val="E3F5E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9202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「〇〇を〇〇にしたい！」を、思ったとおりに AIに伝えてみよう。むずかしく考えなくて大丈夫。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アイデアが浮かばないときは……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2871216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9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ボーナスタイムを もっと長く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50208" y="3794760"/>
            <a:ext cx="253288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9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37947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ボスを もっと強く／弱く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39128" y="37947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9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分裂する数を ふやす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236372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9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0560"/>
            <a:ext cx="23637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はずれた回数を 数える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42716" y="4480560"/>
            <a:ext cx="151790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9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2716" y="44805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音を つける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166360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20" name="Image 0" descr="/sessions/elegant-hopeful-albattani/mnt/outputs/icons/lightbulb_g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5445252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91640" y="5303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参考例：ラスボスを倒したあと、王冠をかぶった的が出てきて、5秒間だけ無限にクリックしてスコアを稼げる「ボーナスタイム」を追加した例もあります。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困った時は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こまったときの コツ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9468" y="1737360"/>
            <a:ext cx="3337560" cy="4480560"/>
          </a:xfrm>
          <a:prstGeom prst="roundRect">
            <a:avLst>
              <a:gd name="adj" fmla="val 3836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6" name="Image 0" descr="/sessions/elegant-hopeful-albattani/mnt/outputs/icons/bu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628" y="208026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348" y="30175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エラーは 怖くない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98068" y="37947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エラーは コンピューターが「ここが 変だよ」と 教えてくれる メッセージ。そのまま AIに 伝えれば 直してくれます。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27068" y="1737360"/>
            <a:ext cx="3337560" cy="4480560"/>
          </a:xfrm>
          <a:prstGeom prst="roundRect">
            <a:avLst>
              <a:gd name="adj" fmla="val 3836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4368" y="201168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526"/>
            </a:solidFill>
            <a:prstDash val="solid"/>
          </a:ln>
          <a:effectLst>
            <a:outerShdw sx="100000" sy="100000" kx="0" ky="0" algn="bl" rotWithShape="0" blurRad="63500" dist="25400" dir="5400000">
              <a:srgbClr val="163654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84368" y="1984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5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09948" y="30175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一気に 全部 直そうとしない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655668" y="37947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気になるところを 一つずつ 順番に お願いしよう。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84668" y="1737360"/>
            <a:ext cx="3337560" cy="4480560"/>
          </a:xfrm>
          <a:prstGeom prst="roundRect">
            <a:avLst>
              <a:gd name="adj" fmla="val 3836"/>
            </a:avLst>
          </a:prstGeom>
          <a:solidFill>
            <a:srgbClr val="FBF1DA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5" name="Image 1" descr="/sessions/elegant-hopeful-albattani/mnt/outputs/icons/ey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828" y="2080260"/>
            <a:ext cx="777240" cy="7772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67548" y="30175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 自分の目で 確かめる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8313268" y="37947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作ってもらったら、動かして 実際に 遊んでみよう。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C8F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プログラミングで身につく力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15600" cy="1417320"/>
          </a:xfrm>
          <a:prstGeom prst="roundRect">
            <a:avLst>
              <a:gd name="adj" fmla="val 9032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6" name="Image 0" descr="/sessions/elegant-hopeful-albattani/mnt/outputs/icons/rainbow_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574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8288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答えは一つじゃない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331720" y="23134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同じお願いをしても、人によって できあがるゲームは 違います。どれも 正解！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10515600" cy="1417320"/>
          </a:xfrm>
          <a:prstGeom prst="roundRect">
            <a:avLst>
              <a:gd name="adj" fmla="val 9032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0" name="Image 1" descr="/sessions/elegant-hopeful-albattani/mnt/outputs/icons/autorenew_s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6576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34290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何度でも挑戦できる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331720" y="39136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AIと一緒なら、うまくいかなくても 何度でも 直せます。壊れたり ケガをしたり しません！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4892040"/>
            <a:ext cx="10515600" cy="1417320"/>
          </a:xfrm>
          <a:prstGeom prst="roundRect">
            <a:avLst>
              <a:gd name="adj" fmla="val 9032"/>
            </a:avLst>
          </a:prstGeom>
          <a:solidFill>
            <a:srgbClr val="E4F4FB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pic>
        <p:nvPicPr>
          <p:cNvPr id="14" name="Image 2" descr="/sessions/elegant-hopeful-albattani/mnt/outputs/icons/speech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525780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31720" y="50292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伝える力が育つ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331720" y="55138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思っていることを 言葉で AIに 伝える練習は、これからの時代に とても役立つ力です。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D73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保護者の方へ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31720" y="40233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65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親御さまへ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プログラミング的思考のサイクルは、以下の5つの繰り返しです。AIと組むことで、このサイクルをとても速く体験できます。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4624" y="24688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8FC0"/>
            </a:solidFill>
            <a:prstDash val="solid"/>
          </a:ln>
          <a:effectLst>
            <a:outerShdw sx="100000" sy="100000" kx="0" ky="0" algn="bl" rotWithShape="0" blurRad="76200" dist="25400" dir="5400000">
              <a:srgbClr val="16365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4624" y="2450592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68884" y="246888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8F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目的を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8F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34844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96616" y="24688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06618"/>
            </a:solidFill>
            <a:prstDash val="solid"/>
          </a:ln>
          <a:effectLst>
            <a:outerShdw sx="100000" sy="100000" kx="0" ky="0" algn="bl" rotWithShape="0" blurRad="76200" dist="25400" dir="5400000">
              <a:srgbClr val="16365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96616" y="2450592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890876" y="246888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66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課題・問題を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66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分析する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56836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18608" y="24688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0A526"/>
            </a:solidFill>
            <a:prstDash val="solid"/>
          </a:ln>
          <a:effectLst>
            <a:outerShdw sx="100000" sy="100000" kx="0" ky="0" algn="bl" rotWithShape="0" blurRad="76200" dist="25400" dir="5400000">
              <a:srgbClr val="163654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18608" y="2450592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112868" y="246888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A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解決策を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A5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78828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40600" y="24688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9A63"/>
            </a:solidFill>
            <a:prstDash val="solid"/>
          </a:ln>
          <a:effectLst>
            <a:outerShdw sx="100000" sy="100000" kx="0" ky="0" algn="bl" rotWithShape="0" blurRad="76200" dist="25400" dir="5400000">
              <a:srgbClr val="163654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40600" y="2450592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334860" y="246888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9A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実施・実行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9A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00820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7392"/>
                </a:solidFill>
              </a:rPr>
              <a:t>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62592" y="24688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6363D"/>
            </a:solidFill>
            <a:prstDash val="solid"/>
          </a:ln>
          <a:effectLst>
            <a:outerShdw sx="100000" sy="100000" kx="0" ky="0" algn="bl" rotWithShape="0" blurRad="76200" dist="25400" dir="5400000">
              <a:srgbClr val="163654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62592" y="2450592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556852" y="246888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636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評価・改善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636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4572000"/>
            <a:ext cx="10515600" cy="1737360"/>
          </a:xfrm>
          <a:prstGeom prst="roundRect">
            <a:avLst>
              <a:gd name="adj" fmla="val 7368"/>
            </a:avLst>
          </a:prstGeom>
          <a:solidFill>
            <a:srgbClr val="F6FAFC"/>
          </a:solidFill>
          <a:ln/>
          <a:effectLst>
            <a:outerShdw sx="100000" sy="100000" kx="0" ky="0" algn="bl" rotWithShape="0" blurRad="101600" dist="25400" dir="5400000">
              <a:srgbClr val="163654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475488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36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お子さまがAIに向かって試行錯誤する様子は、失敗と修正の繰り返しに見えるかもしれません。それこそがプログラミング的思考の練習です。ぜひ温かく見守ってください。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73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C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まとあてシューティングを つくろう！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8F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4" name="Image 0" descr="/sessions/elegant-hopeful-albattani/mnt/outputs/icons/celebra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さいごに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今日は「熱中」してゲームづくりが できましたか？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6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作ったゲームは、ぜひ お友達や ご家族に 見せてあげてください。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本日はありがとうございました！！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むらかみ ふみたか　・　えんや しょうへい　／　株式会社レベルエンター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2026-07-24T00:51:04Z</dcterms:created>
  <dcterms:modified xsi:type="dcterms:W3CDTF">2026-07-24T00:51:04Z</dcterms:modified>
</cp:coreProperties>
</file>